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64" r:id="rId4"/>
    <p:sldId id="257" r:id="rId5"/>
    <p:sldId id="265" r:id="rId6"/>
    <p:sldId id="258" r:id="rId7"/>
    <p:sldId id="259" r:id="rId8"/>
    <p:sldId id="260" r:id="rId9"/>
    <p:sldId id="261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30F24-A42E-4760-AC5B-2B9AA6E67D73}" v="27" dt="2026-09-27T16:10:33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likakomala@outlook.com" userId="be9735a321227cfb" providerId="LiveId" clId="{63CA2282-4036-4D6B-9200-CB2EA8AC2D25}"/>
    <pc:docChg chg="undo custSel addSld delSld modSld">
      <pc:chgData name="madhulikakomala@outlook.com" userId="be9735a321227cfb" providerId="LiveId" clId="{63CA2282-4036-4D6B-9200-CB2EA8AC2D25}" dt="2026-09-27T16:10:35.476" v="214"/>
      <pc:docMkLst>
        <pc:docMk/>
      </pc:docMkLst>
      <pc:sldChg chg="addSp delSp modSp mod">
        <pc:chgData name="madhulikakomala@outlook.com" userId="be9735a321227cfb" providerId="LiveId" clId="{63CA2282-4036-4D6B-9200-CB2EA8AC2D25}" dt="2026-09-27T16:10:35.476" v="214"/>
        <pc:sldMkLst>
          <pc:docMk/>
          <pc:sldMk cId="865626558" sldId="256"/>
        </pc:sldMkLst>
        <pc:spChg chg="add del mod">
          <ac:chgData name="madhulikakomala@outlook.com" userId="be9735a321227cfb" providerId="LiveId" clId="{63CA2282-4036-4D6B-9200-CB2EA8AC2D25}" dt="2026-09-27T16:10:23.714" v="210"/>
          <ac:spMkLst>
            <pc:docMk/>
            <pc:sldMk cId="865626558" sldId="256"/>
            <ac:spMk id="4" creationId="{6D4FD102-01EC-E80B-5CBE-4C1A7891076B}"/>
          </ac:spMkLst>
        </pc:spChg>
        <pc:spChg chg="add del mod">
          <ac:chgData name="madhulikakomala@outlook.com" userId="be9735a321227cfb" providerId="LiveId" clId="{63CA2282-4036-4D6B-9200-CB2EA8AC2D25}" dt="2026-09-27T16:10:35.476" v="214"/>
          <ac:spMkLst>
            <pc:docMk/>
            <pc:sldMk cId="865626558" sldId="256"/>
            <ac:spMk id="5" creationId="{C01BC461-976D-62B7-CF53-8AD68849B040}"/>
          </ac:spMkLst>
        </pc:spChg>
      </pc:sldChg>
      <pc:sldChg chg="addSp delSp modSp mod">
        <pc:chgData name="madhulikakomala@outlook.com" userId="be9735a321227cfb" providerId="LiveId" clId="{63CA2282-4036-4D6B-9200-CB2EA8AC2D25}" dt="2026-09-27T06:26:01.020" v="207" actId="1076"/>
        <pc:sldMkLst>
          <pc:docMk/>
          <pc:sldMk cId="2261100356" sldId="259"/>
        </pc:sldMkLst>
        <pc:spChg chg="add del mod">
          <ac:chgData name="madhulikakomala@outlook.com" userId="be9735a321227cfb" providerId="LiveId" clId="{63CA2282-4036-4D6B-9200-CB2EA8AC2D25}" dt="2026-09-27T06:03:37.588" v="157"/>
          <ac:spMkLst>
            <pc:docMk/>
            <pc:sldMk cId="2261100356" sldId="259"/>
            <ac:spMk id="2" creationId="{2E48B972-642E-BEA4-402B-9D59B0F80081}"/>
          </ac:spMkLst>
        </pc:spChg>
        <pc:spChg chg="mod">
          <ac:chgData name="madhulikakomala@outlook.com" userId="be9735a321227cfb" providerId="LiveId" clId="{63CA2282-4036-4D6B-9200-CB2EA8AC2D25}" dt="2026-09-27T06:25:24.871" v="201" actId="1076"/>
          <ac:spMkLst>
            <pc:docMk/>
            <pc:sldMk cId="2261100356" sldId="259"/>
            <ac:spMk id="3" creationId="{864217F9-2536-A2A1-EC01-574E73A7B087}"/>
          </ac:spMkLst>
        </pc:spChg>
        <pc:spChg chg="add del mod">
          <ac:chgData name="madhulikakomala@outlook.com" userId="be9735a321227cfb" providerId="LiveId" clId="{63CA2282-4036-4D6B-9200-CB2EA8AC2D25}" dt="2026-09-27T06:03:42.056" v="160"/>
          <ac:spMkLst>
            <pc:docMk/>
            <pc:sldMk cId="2261100356" sldId="259"/>
            <ac:spMk id="5" creationId="{11BDDA4B-9E52-CAFF-AA26-B5E33EF41C91}"/>
          </ac:spMkLst>
        </pc:spChg>
        <pc:spChg chg="add del mod">
          <ac:chgData name="madhulikakomala@outlook.com" userId="be9735a321227cfb" providerId="LiveId" clId="{63CA2282-4036-4D6B-9200-CB2EA8AC2D25}" dt="2026-09-27T06:22:24.216" v="180"/>
          <ac:spMkLst>
            <pc:docMk/>
            <pc:sldMk cId="2261100356" sldId="259"/>
            <ac:spMk id="6" creationId="{43CBEE85-2982-9551-BA4D-57226764A0F2}"/>
          </ac:spMkLst>
        </pc:spChg>
        <pc:spChg chg="add del mod">
          <ac:chgData name="madhulikakomala@outlook.com" userId="be9735a321227cfb" providerId="LiveId" clId="{63CA2282-4036-4D6B-9200-CB2EA8AC2D25}" dt="2026-09-27T06:25:10.508" v="194"/>
          <ac:spMkLst>
            <pc:docMk/>
            <pc:sldMk cId="2261100356" sldId="259"/>
            <ac:spMk id="7" creationId="{A26BC627-9BBE-7130-7B62-ABD113B2A422}"/>
          </ac:spMkLst>
        </pc:spChg>
        <pc:spChg chg="add del mod">
          <ac:chgData name="madhulikakomala@outlook.com" userId="be9735a321227cfb" providerId="LiveId" clId="{63CA2282-4036-4D6B-9200-CB2EA8AC2D25}" dt="2026-09-27T06:25:16.894" v="197"/>
          <ac:spMkLst>
            <pc:docMk/>
            <pc:sldMk cId="2261100356" sldId="259"/>
            <ac:spMk id="8" creationId="{8134DBF3-BAF7-2181-68C3-241EE6C916BB}"/>
          </ac:spMkLst>
        </pc:spChg>
        <pc:spChg chg="add del mod">
          <ac:chgData name="madhulikakomala@outlook.com" userId="be9735a321227cfb" providerId="LiveId" clId="{63CA2282-4036-4D6B-9200-CB2EA8AC2D25}" dt="2026-09-27T06:25:18.880" v="200"/>
          <ac:spMkLst>
            <pc:docMk/>
            <pc:sldMk cId="2261100356" sldId="259"/>
            <ac:spMk id="9" creationId="{1050CC45-B1C3-34DD-A810-53C701C2392F}"/>
          </ac:spMkLst>
        </pc:spChg>
        <pc:graphicFrameChg chg="mod modGraphic">
          <ac:chgData name="madhulikakomala@outlook.com" userId="be9735a321227cfb" providerId="LiveId" clId="{63CA2282-4036-4D6B-9200-CB2EA8AC2D25}" dt="2026-09-27T06:26:01.020" v="207" actId="1076"/>
          <ac:graphicFrameMkLst>
            <pc:docMk/>
            <pc:sldMk cId="2261100356" sldId="259"/>
            <ac:graphicFrameMk id="4" creationId="{A3BF497D-F909-3963-B2E2-23511237BB8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26284-6E36-48F7-B518-68E132D8AED9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2F817-4402-4EE7-B27D-58D038EAA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7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2F817-4402-4EE7-B27D-58D038EAAD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C9EA-A1EF-CBC4-F1C8-BE70DF3C3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2B27E-1B75-E41E-D3DF-71D0C7C97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DC92-B512-7368-B7A2-C4BF4172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5B852-7BFF-040B-8BEC-CFDA1B06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99787-CA46-41BD-F7C7-138B0D63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C61F1D-5831-E6C0-A8E8-AB407AC05D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60" y="37882"/>
            <a:ext cx="2812607" cy="101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0437-4653-50B4-FEE8-B4516682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97E4-51E2-19F3-3140-6B0B65C4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11F8D-DDFE-6329-17EE-238F47F6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7EF0-9AC1-CACC-48B3-E42D13F0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3A81-015E-8C6E-4F81-E32FC793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92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2C68-8E5C-4B5B-2F03-89326A9C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868B1-1874-8627-F102-76CCC8FB7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16FFC-94A2-D415-B26D-21C5681A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CB610-3D37-2272-43F6-6A513D86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1159A-2693-FD70-C0DC-9BD15179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8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6441-C477-ECA3-CB1F-9EF74DD7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DDB16-9C9C-39A9-4CF5-BB0FE1EDB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0CC50-ACFF-8E8C-A357-C20516C20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24072-A068-BE68-716E-16AC9839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24882-B504-C7FB-2046-3EA13738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DD8A9-F5C2-FB78-FB58-595B2209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302F-985C-C1F9-FC36-6B9E45FA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7D02-29D5-25AF-FA46-AEAA24440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861E7-6AC1-B1F0-D9D4-6FA685F9E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69194-AEB0-A4BF-5445-DD485FC95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E059C-777B-17DE-5858-49F4B5C14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C7F31-E1CC-C088-608F-784299FA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89C90-C810-A156-365D-5E8CB8B1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A0C7D-4D8C-34D6-936F-B274350F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1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C48B-28B7-FBF4-A9E3-BFE2BC29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8A7BA-3A01-DA75-E312-66E20D0F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235FD-D92F-D055-616E-616A8669A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FCE14-CB25-F85E-9B96-BEE35490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19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2B791-D016-9335-F3D8-DC5806EA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78673-AD62-17BF-E7EB-341C63EC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FAFC0-2A40-BBA0-5FD1-7924B42A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FDB3-F051-9FE5-C578-BE24E5C3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76D56-6181-89D9-BE99-9FFA43C0B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47764-DE5A-B88A-9E33-31B811509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D0A12-99AD-7A7F-DE1F-7AEDB615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20EEE-78F7-47F3-009A-0B5E034D7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ED58E-3565-4940-E674-E17CD8E2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9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5DB8-8CB5-5407-6850-82D727C37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CA911-450A-88A4-8AEA-C8310E84B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18AC5-E813-0C1D-D55E-0DB27323B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E3871-CB8E-F540-A4EB-1BB548FD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1D4A-9DEB-9DA1-43B1-BCF9B01E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5ADFF-BCEB-FC93-24BF-415893F0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0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1A70-B033-0AB8-5BF9-B19E1552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DD441-83C8-5575-1192-850C9A0CF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2B00B-D7B8-E0FA-B201-F3965573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F3AEC-D438-71A5-E68D-9F0F1710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1D808-A8E6-CF25-6BDD-1F04A255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9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20864-04B0-6076-3DC3-E0B4285C5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646EC-A2FF-0F50-C627-B5A4588F1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5638C-4AA1-EF13-2154-7BA0570C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D9D39-A13E-6870-9AF1-0E8034BD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C3903-22C5-2268-B9AA-87C3B40D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76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75CC-474B-B45D-DCAE-D74C5FB1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7A292-9D31-A886-699D-EB5EC1C1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F862C-903B-8B89-13F5-CDD2C275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DA147-1B3A-7BCD-938C-53B14C93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5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2AE34-0E88-9159-2445-F887B46C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98B86-0D30-48E3-6C64-340DF7F19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C548-9243-7AD3-8769-0B4C87993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9A5F5-E9F1-42C3-8231-68493D5046B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229C-7E41-CB94-6E3A-750D72F3F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8A9D-9D8A-D32C-8054-B3EC438CF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345A3-0E30-438E-929C-F69629311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07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7ED8-0F1A-24B2-2E83-85CF63C5F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7" y="452782"/>
            <a:ext cx="9144000" cy="985424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Review-1</a:t>
            </a:r>
            <a:br>
              <a:rPr lang="en-IN" sz="32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Batch no-1</a:t>
            </a:r>
            <a:br>
              <a:rPr lang="en-IN" sz="3200" dirty="0">
                <a:solidFill>
                  <a:srgbClr val="2326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3600" dirty="0">
              <a:solidFill>
                <a:srgbClr val="2326A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A257-DA79-3472-33AF-5252D8AF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133" y="1196340"/>
            <a:ext cx="10227733" cy="3835399"/>
          </a:xfrm>
        </p:spPr>
        <p:txBody>
          <a:bodyPr>
            <a:normAutofit fontScale="25000" lnSpcReduction="20000"/>
          </a:bodyPr>
          <a:lstStyle/>
          <a:p>
            <a:r>
              <a:rPr lang="en-US" sz="12800" dirty="0"/>
              <a:t>ONLINE SHOPPING SYSTEM</a:t>
            </a:r>
          </a:p>
          <a:p>
            <a:endParaRPr lang="en-US" sz="4000" dirty="0"/>
          </a:p>
          <a:p>
            <a:r>
              <a:rPr lang="en-US" sz="11200" dirty="0">
                <a:solidFill>
                  <a:srgbClr val="FF0000"/>
                </a:solidFill>
              </a:rPr>
              <a:t>Presented by</a:t>
            </a:r>
          </a:p>
          <a:p>
            <a:r>
              <a:rPr lang="en-US" sz="8000" dirty="0" err="1">
                <a:solidFill>
                  <a:srgbClr val="FF0000"/>
                </a:solidFill>
              </a:rPr>
              <a:t>K.Madhulika</a:t>
            </a:r>
            <a:r>
              <a:rPr lang="en-US" sz="8000" dirty="0">
                <a:solidFill>
                  <a:srgbClr val="FF0000"/>
                </a:solidFill>
              </a:rPr>
              <a:t> (25B11AI552)</a:t>
            </a:r>
          </a:p>
          <a:p>
            <a:r>
              <a:rPr lang="en-US" sz="8000" dirty="0" err="1">
                <a:solidFill>
                  <a:srgbClr val="FF0000"/>
                </a:solidFill>
              </a:rPr>
              <a:t>K.Joshitha</a:t>
            </a:r>
            <a:r>
              <a:rPr lang="en-US" sz="8000" dirty="0">
                <a:solidFill>
                  <a:srgbClr val="FF0000"/>
                </a:solidFill>
              </a:rPr>
              <a:t> (25B11AI430)</a:t>
            </a:r>
          </a:p>
          <a:p>
            <a:r>
              <a:rPr lang="en-US" sz="8000" dirty="0" err="1">
                <a:solidFill>
                  <a:srgbClr val="FF0000"/>
                </a:solidFill>
              </a:rPr>
              <a:t>S.Rhoda</a:t>
            </a:r>
            <a:r>
              <a:rPr lang="en-US" sz="8000" dirty="0">
                <a:solidFill>
                  <a:srgbClr val="FF0000"/>
                </a:solidFill>
              </a:rPr>
              <a:t> (25B11AI493)</a:t>
            </a:r>
          </a:p>
          <a:p>
            <a:r>
              <a:rPr lang="en-US" sz="8000" dirty="0" err="1">
                <a:solidFill>
                  <a:srgbClr val="FF0000"/>
                </a:solidFill>
              </a:rPr>
              <a:t>A.Sri</a:t>
            </a:r>
            <a:r>
              <a:rPr lang="en-US" sz="8000" dirty="0">
                <a:solidFill>
                  <a:srgbClr val="FF0000"/>
                </a:solidFill>
              </a:rPr>
              <a:t> Victoria (25B11AIB42)</a:t>
            </a:r>
          </a:p>
          <a:p>
            <a:r>
              <a:rPr lang="en-US" sz="8000" dirty="0">
                <a:solidFill>
                  <a:srgbClr val="FF0000"/>
                </a:solidFill>
              </a:rPr>
              <a:t>S.V.D Mounika (26B21AI103)</a:t>
            </a:r>
          </a:p>
          <a:p>
            <a:endParaRPr lang="en-US" sz="8000" dirty="0">
              <a:solidFill>
                <a:srgbClr val="FF0000"/>
              </a:solidFill>
            </a:endParaRPr>
          </a:p>
          <a:p>
            <a:r>
              <a:rPr lang="en-US" sz="9600" dirty="0"/>
              <a:t>Academic Year: 2026-2027</a:t>
            </a:r>
          </a:p>
          <a:p>
            <a:endParaRPr lang="en-US" sz="8000" dirty="0"/>
          </a:p>
          <a:p>
            <a:r>
              <a:rPr lang="en-US" sz="9600" dirty="0">
                <a:solidFill>
                  <a:srgbClr val="FF0000"/>
                </a:solidFill>
              </a:rPr>
              <a:t> </a:t>
            </a:r>
            <a:r>
              <a:rPr lang="en-US" sz="9600" dirty="0"/>
              <a:t>Under esteemed guidance of</a:t>
            </a:r>
          </a:p>
          <a:p>
            <a:r>
              <a:rPr lang="en-US" sz="9600" b="1" dirty="0"/>
              <a:t>Dr P KishoreKumar</a:t>
            </a:r>
          </a:p>
          <a:p>
            <a:r>
              <a:rPr lang="en-US" sz="9600" dirty="0"/>
              <a:t>Associate Professor</a:t>
            </a:r>
          </a:p>
          <a:p>
            <a:r>
              <a:rPr lang="en-US" sz="9600" dirty="0"/>
              <a:t>Department of AIML</a:t>
            </a:r>
          </a:p>
          <a:p>
            <a:endParaRPr lang="en-US" sz="8000" dirty="0">
              <a:solidFill>
                <a:srgbClr val="FF0000"/>
              </a:solidFill>
            </a:endParaRPr>
          </a:p>
          <a:p>
            <a:endParaRPr lang="en-US" sz="11200" dirty="0">
              <a:solidFill>
                <a:srgbClr val="FF0000"/>
              </a:solidFill>
            </a:endParaRPr>
          </a:p>
          <a:p>
            <a:endParaRPr lang="en-US" sz="3100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62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9A041-59F6-E8BE-B9D1-018F8ADC10B6}"/>
              </a:ext>
            </a:extLst>
          </p:cNvPr>
          <p:cNvSpPr txBox="1"/>
          <p:nvPr/>
        </p:nvSpPr>
        <p:spPr>
          <a:xfrm>
            <a:off x="704203" y="541867"/>
            <a:ext cx="539179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Outline</a:t>
            </a:r>
            <a:endParaRPr lang="en-US" sz="40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Introduction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Problem Statement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Objectives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System Scope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Entities and Attributes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Relationships and Cardinality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Relational Database Schema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ER Diagram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Team Responsibilities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6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B03DF-4472-879A-ADF0-3B89C1B11EC7}"/>
              </a:ext>
            </a:extLst>
          </p:cNvPr>
          <p:cNvSpPr txBox="1"/>
          <p:nvPr/>
        </p:nvSpPr>
        <p:spPr>
          <a:xfrm>
            <a:off x="577909" y="677091"/>
            <a:ext cx="1056906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/>
              <a:t> Introduction</a:t>
            </a:r>
            <a:endParaRPr lang="en-US" sz="3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Online shopping allows customers to purchase products through </a:t>
            </a:r>
          </a:p>
          <a:p>
            <a:pPr lvl="0"/>
            <a:r>
              <a:rPr lang="en-US" sz="3200" dirty="0"/>
              <a:t>   a digital platform.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The system stores customer, product, order, payment,</a:t>
            </a:r>
          </a:p>
          <a:p>
            <a:pPr lvl="0"/>
            <a:r>
              <a:rPr lang="en-US" sz="3200" dirty="0"/>
              <a:t>    and delivery information.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A database helps organize shopping information efficiently.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3200" dirty="0"/>
              <a:t>The project focuses on database design for Review-I.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570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C8A47-1D4E-94B0-2E5F-7071C17FB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87DD8-99F9-F7A6-8259-4767631E9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4296" y="935037"/>
            <a:ext cx="9144000" cy="473006"/>
          </a:xfrm>
        </p:spPr>
        <p:txBody>
          <a:bodyPr>
            <a:noAutofit/>
          </a:bodyPr>
          <a:lstStyle/>
          <a:p>
            <a:r>
              <a:rPr lang="en-US" sz="3600" b="1" dirty="0"/>
              <a:t>Problem statement and Objectives</a:t>
            </a:r>
            <a:endParaRPr lang="en-IN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81D36-3733-953A-E867-F1609E352AAA}"/>
              </a:ext>
            </a:extLst>
          </p:cNvPr>
          <p:cNvSpPr txBox="1"/>
          <p:nvPr/>
        </p:nvSpPr>
        <p:spPr>
          <a:xfrm>
            <a:off x="241888" y="1903306"/>
            <a:ext cx="1075774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dirty="0"/>
              <a:t>Problem Statement:</a:t>
            </a:r>
            <a:br>
              <a:rPr lang="en-US" dirty="0"/>
            </a:br>
            <a:r>
              <a:rPr lang="en-US" sz="2800" dirty="0"/>
              <a:t>The Online Shopping System helps customers buy products from anywhere. It provides easy product </a:t>
            </a:r>
            <a:r>
              <a:rPr lang="en-US" sz="2800" dirty="0" err="1"/>
              <a:t>search,online</a:t>
            </a:r>
            <a:r>
              <a:rPr lang="en-US" sz="2800" dirty="0"/>
              <a:t> payment, and order tracking.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/>
              <a:t>Objectives:</a:t>
            </a:r>
            <a:endParaRPr lang="en-US" sz="32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800" dirty="0"/>
              <a:t>To allow users to shop online easily.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800" dirty="0"/>
              <a:t> To display products with details.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800" dirty="0"/>
              <a:t> To manage orders and payments.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800" dirty="0"/>
              <a:t> To keep customer information secure.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800" dirty="0"/>
              <a:t> To reduce shopping time.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8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6434C1-B8E7-CE39-A693-65999237FCE7}"/>
              </a:ext>
            </a:extLst>
          </p:cNvPr>
          <p:cNvSpPr txBox="1"/>
          <p:nvPr/>
        </p:nvSpPr>
        <p:spPr>
          <a:xfrm>
            <a:off x="508000" y="220136"/>
            <a:ext cx="3666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/>
              <a:t>System Scope</a:t>
            </a:r>
            <a:endParaRPr lang="en-US" sz="4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F24DD6-9D30-3092-6A47-A3B0953AFB3F}"/>
              </a:ext>
            </a:extLst>
          </p:cNvPr>
          <p:cNvSpPr/>
          <p:nvPr/>
        </p:nvSpPr>
        <p:spPr>
          <a:xfrm>
            <a:off x="186268" y="1617133"/>
            <a:ext cx="3335866" cy="17271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dirty="0">
                <a:solidFill>
                  <a:schemeClr val="tx1"/>
                </a:solidFill>
              </a:rPr>
              <a:t>Customer Management</a:t>
            </a:r>
          </a:p>
          <a:p>
            <a:pPr lvl="0"/>
            <a:endParaRPr lang="en-US" dirty="0"/>
          </a:p>
          <a:p>
            <a:pPr lvl="0"/>
            <a:r>
              <a:rPr lang="en-US" sz="2400" dirty="0"/>
              <a:t>Customer details and accounts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F02881-44E0-3E8C-9557-0BF35F9F2A77}"/>
              </a:ext>
            </a:extLst>
          </p:cNvPr>
          <p:cNvSpPr/>
          <p:nvPr/>
        </p:nvSpPr>
        <p:spPr>
          <a:xfrm>
            <a:off x="4119034" y="1617133"/>
            <a:ext cx="3445933" cy="17271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Product Management</a:t>
            </a:r>
          </a:p>
          <a:p>
            <a:pPr algn="ctr"/>
            <a:endParaRPr lang="en-US" dirty="0"/>
          </a:p>
          <a:p>
            <a:pPr algn="ctr"/>
            <a:r>
              <a:rPr lang="en-US" sz="2400" dirty="0"/>
              <a:t>Product details and prices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74F366-0A5B-C1C5-AE4E-ABC46F89D9D7}"/>
              </a:ext>
            </a:extLst>
          </p:cNvPr>
          <p:cNvSpPr/>
          <p:nvPr/>
        </p:nvSpPr>
        <p:spPr>
          <a:xfrm>
            <a:off x="8415866" y="1532465"/>
            <a:ext cx="3301999" cy="1811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Order Management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Customer order records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4A75D2-A538-87D9-32EE-F0E7127D66A8}"/>
              </a:ext>
            </a:extLst>
          </p:cNvPr>
          <p:cNvSpPr/>
          <p:nvPr/>
        </p:nvSpPr>
        <p:spPr>
          <a:xfrm>
            <a:off x="186268" y="4267200"/>
            <a:ext cx="3335866" cy="1871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Payment Management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Payment information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539A12-841E-2325-A169-3ED0DB2896E3}"/>
              </a:ext>
            </a:extLst>
          </p:cNvPr>
          <p:cNvSpPr/>
          <p:nvPr/>
        </p:nvSpPr>
        <p:spPr>
          <a:xfrm>
            <a:off x="4174068" y="4305300"/>
            <a:ext cx="3445933" cy="1871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Delivery Management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Order delivery details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FD712E-671E-E5CA-FB6D-BF5BA5B64F6D}"/>
              </a:ext>
            </a:extLst>
          </p:cNvPr>
          <p:cNvSpPr/>
          <p:nvPr/>
        </p:nvSpPr>
        <p:spPr>
          <a:xfrm>
            <a:off x="8500533" y="4267199"/>
            <a:ext cx="3217332" cy="1871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Category Management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313028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A4BF-9699-9A93-1A9D-DC0D076C1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42BF99-CFC0-7003-EFE9-78B5977E3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0131" y="165180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 and their attributes</a:t>
            </a:r>
            <a:endParaRPr lang="en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B1E99F-7445-783F-1CF5-3AD8B6449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833101"/>
              </p:ext>
            </p:extLst>
          </p:nvPr>
        </p:nvGraphicFramePr>
        <p:xfrm>
          <a:off x="701041" y="1088469"/>
          <a:ext cx="11033760" cy="568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3092">
                  <a:extLst>
                    <a:ext uri="{9D8B030D-6E8A-4147-A177-3AD203B41FA5}">
                      <a16:colId xmlns:a16="http://schemas.microsoft.com/office/drawing/2014/main" val="2138081966"/>
                    </a:ext>
                  </a:extLst>
                </a:gridCol>
                <a:gridCol w="6800668">
                  <a:extLst>
                    <a:ext uri="{9D8B030D-6E8A-4147-A177-3AD203B41FA5}">
                      <a16:colId xmlns:a16="http://schemas.microsoft.com/office/drawing/2014/main" val="246656881"/>
                    </a:ext>
                  </a:extLst>
                </a:gridCol>
              </a:tblGrid>
              <a:tr h="39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897321"/>
                  </a:ext>
                </a:extLst>
              </a:tr>
              <a:tr h="43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Customer_ID, Name, Email, Phone,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693528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Product_ID, </a:t>
                      </a:r>
                      <a:r>
                        <a:rPr lang="en-US" dirty="0" err="1"/>
                        <a:t>Product_Name</a:t>
                      </a:r>
                      <a:r>
                        <a:rPr lang="en-US" dirty="0"/>
                        <a:t>, Price, Stock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209636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Category_ID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Category_Name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332819"/>
                  </a:ext>
                </a:extLst>
              </a:tr>
              <a:tr h="365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Order_Date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Total_Amount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634256"/>
                  </a:ext>
                </a:extLst>
              </a:tr>
              <a:tr h="479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Payment_ID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Payment_Method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Payment_Status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194728"/>
                  </a:ext>
                </a:extLst>
              </a:tr>
              <a:tr h="43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Delivery_ID, </a:t>
                      </a:r>
                      <a:r>
                        <a:rPr lang="en-US" dirty="0" err="1"/>
                        <a:t>Delivery_Date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Delivery_Status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930170"/>
                  </a:ext>
                </a:extLst>
              </a:tr>
              <a:tr h="913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Order_Item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Order_Item_ID</a:t>
                      </a:r>
                      <a:r>
                        <a:rPr lang="en-US" dirty="0"/>
                        <a:t> (PK), </a:t>
                      </a: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 (FK), Product_ID (FK), Quantity, Price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60773"/>
                  </a:ext>
                </a:extLst>
              </a:tr>
              <a:tr h="639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Cart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Cart_ID</a:t>
                      </a:r>
                      <a:r>
                        <a:rPr lang="en-US" dirty="0"/>
                        <a:t> (PK), </a:t>
                      </a: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(FK), </a:t>
                      </a:r>
                      <a:r>
                        <a:rPr lang="en-US" dirty="0" err="1"/>
                        <a:t>Created_Date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Total_Items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649702"/>
                  </a:ext>
                </a:extLst>
              </a:tr>
              <a:tr h="639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Review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Review_ID</a:t>
                      </a:r>
                      <a:r>
                        <a:rPr lang="en-US" dirty="0"/>
                        <a:t> (PK), </a:t>
                      </a: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(FK), Product_ID (FK), Rating, 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761421"/>
                  </a:ext>
                </a:extLst>
              </a:tr>
              <a:tr h="639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Seller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Seller_ID</a:t>
                      </a:r>
                      <a:r>
                        <a:rPr lang="en-US" dirty="0"/>
                        <a:t> (PK), </a:t>
                      </a:r>
                      <a:r>
                        <a:rPr lang="en-US" dirty="0" err="1"/>
                        <a:t>Seller_Name</a:t>
                      </a:r>
                      <a:r>
                        <a:rPr lang="en-US" dirty="0"/>
                        <a:t>, Email, Phone,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786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317614-8DE2-19C1-F3E9-1B8C50CFC1C3}"/>
              </a:ext>
            </a:extLst>
          </p:cNvPr>
          <p:cNvSpPr txBox="1"/>
          <p:nvPr/>
        </p:nvSpPr>
        <p:spPr>
          <a:xfrm>
            <a:off x="6035040" y="6228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85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DF2D-7604-46A7-DFDC-477FD309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4217F9-2536-A2A1-EC01-574E73A7B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706" y="341623"/>
            <a:ext cx="9144000" cy="383553"/>
          </a:xfrm>
        </p:spPr>
        <p:txBody>
          <a:bodyPr>
            <a:no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E-R Diagram Design</a:t>
            </a:r>
            <a:endParaRPr lang="en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B6CEAB-1F8D-5ED1-54C9-4FB5CE78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67044"/>
              </p:ext>
            </p:extLst>
          </p:nvPr>
        </p:nvGraphicFramePr>
        <p:xfrm>
          <a:off x="838200" y="1417320"/>
          <a:ext cx="105156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6380146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645020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947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433454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29332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Entity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Entity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3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92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Included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302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Belongs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62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86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4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65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12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Receives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5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One-to-Many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994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10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476C-C30E-F00A-2E2D-181A05E5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2C399F-A19B-1D82-0DF7-792AD8B64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71438"/>
            <a:ext cx="9144000" cy="463066"/>
          </a:xfrm>
        </p:spPr>
        <p:txBody>
          <a:bodyPr>
            <a:no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Keys</a:t>
            </a:r>
            <a:endParaRPr lang="en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F5FD28-6A04-00A7-E870-160038266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084491"/>
              </p:ext>
            </p:extLst>
          </p:nvPr>
        </p:nvGraphicFramePr>
        <p:xfrm>
          <a:off x="1622214" y="1088816"/>
          <a:ext cx="9144000" cy="5098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9315">
                  <a:extLst>
                    <a:ext uri="{9D8B030D-6E8A-4147-A177-3AD203B41FA5}">
                      <a16:colId xmlns:a16="http://schemas.microsoft.com/office/drawing/2014/main" val="1597874381"/>
                    </a:ext>
                  </a:extLst>
                </a:gridCol>
                <a:gridCol w="2339315">
                  <a:extLst>
                    <a:ext uri="{9D8B030D-6E8A-4147-A177-3AD203B41FA5}">
                      <a16:colId xmlns:a16="http://schemas.microsoft.com/office/drawing/2014/main" val="3463975814"/>
                    </a:ext>
                  </a:extLst>
                </a:gridCol>
                <a:gridCol w="2232685">
                  <a:extLst>
                    <a:ext uri="{9D8B030D-6E8A-4147-A177-3AD203B41FA5}">
                      <a16:colId xmlns:a16="http://schemas.microsoft.com/office/drawing/2014/main" val="2130123386"/>
                    </a:ext>
                  </a:extLst>
                </a:gridCol>
                <a:gridCol w="2232685">
                  <a:extLst>
                    <a:ext uri="{9D8B030D-6E8A-4147-A177-3AD203B41FA5}">
                      <a16:colId xmlns:a16="http://schemas.microsoft.com/office/drawing/2014/main" val="3251040575"/>
                    </a:ext>
                  </a:extLst>
                </a:gridCol>
              </a:tblGrid>
              <a:tr h="427935">
                <a:tc>
                  <a:txBody>
                    <a:bodyPr/>
                    <a:lstStyle/>
                    <a:p>
                      <a:r>
                        <a:rPr lang="en-IN" sz="2000" b="1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Entity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Attribute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Key (Primary/Foreign key)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98288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875456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126816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78395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424396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879267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985724"/>
                  </a:ext>
                </a:extLst>
              </a:tr>
              <a:tr h="427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Order_Item_ID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023285"/>
                  </a:ext>
                </a:extLst>
              </a:tr>
              <a:tr h="221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2160752"/>
                  </a:ext>
                </a:extLst>
              </a:tr>
              <a:tr h="221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608081"/>
                  </a:ext>
                </a:extLst>
              </a:tr>
              <a:tr h="221008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Seller_ID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08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67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0BCD7-9DE4-7D24-8172-9A395ED9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18AFCCC-590D-5EEB-AB72-193797EB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8121" y="0"/>
            <a:ext cx="9144000" cy="383553"/>
          </a:xfrm>
        </p:spPr>
        <p:txBody>
          <a:bodyPr>
            <a:no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E-R Diagram (Generate E-R diagram in https://app.diagrams.net/)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77C3C2-BE34-7357-8CDB-EC1FCE8D210F}"/>
              </a:ext>
            </a:extLst>
          </p:cNvPr>
          <p:cNvSpPr txBox="1"/>
          <p:nvPr/>
        </p:nvSpPr>
        <p:spPr>
          <a:xfrm>
            <a:off x="3860799" y="383553"/>
            <a:ext cx="962152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Draw the following entities and relationships in </a:t>
            </a:r>
            <a:r>
              <a:rPr lang="en-US" sz="2000" b="1" dirty="0"/>
              <a:t>draw.io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Customer</a:t>
            </a:r>
            <a:r>
              <a:rPr lang="en-US" sz="2000" dirty="0"/>
              <a:t> → places → </a:t>
            </a:r>
            <a:r>
              <a:rPr lang="en-US" sz="2000" b="1" dirty="0"/>
              <a:t>Order</a:t>
            </a:r>
            <a:r>
              <a:rPr lang="en-US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Order</a:t>
            </a:r>
            <a:r>
              <a:rPr lang="en-US" sz="2000" dirty="0"/>
              <a:t> → contains → </a:t>
            </a:r>
            <a:r>
              <a:rPr lang="en-US" sz="2000" b="1" dirty="0"/>
              <a:t>Product</a:t>
            </a:r>
            <a:r>
              <a:rPr lang="en-US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Product</a:t>
            </a:r>
            <a:r>
              <a:rPr lang="en-US" sz="2000" dirty="0"/>
              <a:t> → belongs to → </a:t>
            </a:r>
            <a:r>
              <a:rPr lang="en-US" sz="2000" b="1" dirty="0"/>
              <a:t>Category</a:t>
            </a:r>
            <a:r>
              <a:rPr lang="en-US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Order</a:t>
            </a:r>
            <a:r>
              <a:rPr lang="en-US" sz="2000" dirty="0"/>
              <a:t> → has → </a:t>
            </a:r>
            <a:r>
              <a:rPr lang="en-US" sz="2000" b="1" dirty="0"/>
              <a:t>Payment</a:t>
            </a:r>
            <a:r>
              <a:rPr lang="en-US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Order</a:t>
            </a:r>
            <a:r>
              <a:rPr lang="en-US" sz="2000" dirty="0"/>
              <a:t> → has → </a:t>
            </a:r>
            <a:r>
              <a:rPr lang="en-US" sz="2000" b="1" dirty="0"/>
              <a:t>Delivery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9BBF3C-5FB2-AD38-34AB-E2FE2FD59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31915"/>
              </p:ext>
            </p:extLst>
          </p:nvPr>
        </p:nvGraphicFramePr>
        <p:xfrm>
          <a:off x="714587" y="2329251"/>
          <a:ext cx="10155252" cy="43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5084">
                  <a:extLst>
                    <a:ext uri="{9D8B030D-6E8A-4147-A177-3AD203B41FA5}">
                      <a16:colId xmlns:a16="http://schemas.microsoft.com/office/drawing/2014/main" val="1327177794"/>
                    </a:ext>
                  </a:extLst>
                </a:gridCol>
                <a:gridCol w="3385084">
                  <a:extLst>
                    <a:ext uri="{9D8B030D-6E8A-4147-A177-3AD203B41FA5}">
                      <a16:colId xmlns:a16="http://schemas.microsoft.com/office/drawing/2014/main" val="1610401342"/>
                    </a:ext>
                  </a:extLst>
                </a:gridCol>
                <a:gridCol w="3385084">
                  <a:extLst>
                    <a:ext uri="{9D8B030D-6E8A-4147-A177-3AD203B41FA5}">
                      <a16:colId xmlns:a16="http://schemas.microsoft.com/office/drawing/2014/main" val="1558550689"/>
                    </a:ext>
                  </a:extLst>
                </a:gridCol>
              </a:tblGrid>
              <a:tr h="25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Relationship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Cardinality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Explanation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447525920"/>
                  </a:ext>
                </a:extLst>
              </a:tr>
              <a:tr h="644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Customer → Order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 : M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One customer can place many orders, but each order belongs to one customer.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70736237"/>
                  </a:ext>
                </a:extLst>
              </a:tr>
              <a:tr h="644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Order → Product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 : M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One order can contain many products, and one product can be included in many orders.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33410171"/>
                  </a:ext>
                </a:extLst>
              </a:tr>
              <a:tr h="451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Product → Category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 : 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Many products can belong to one category.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509897734"/>
                  </a:ext>
                </a:extLst>
              </a:tr>
              <a:tr h="644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Order → Payment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 : 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One order has one payment, and one payment is associated with one order.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295642854"/>
                  </a:ext>
                </a:extLst>
              </a:tr>
              <a:tr h="644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Order → Delivery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 : 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One order has one delivery, and one delivery is associated with one order.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31603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95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DAD3E2-1F10-CD8D-2032-B05B8C2A1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234" y="47188"/>
            <a:ext cx="8191500" cy="67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9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83722-C600-913D-1802-DF9E28D8796F}"/>
              </a:ext>
            </a:extLst>
          </p:cNvPr>
          <p:cNvSpPr txBox="1"/>
          <p:nvPr/>
        </p:nvSpPr>
        <p:spPr>
          <a:xfrm>
            <a:off x="609602" y="1557867"/>
            <a:ext cx="104393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Online Shopping System manages shopping data efficiently.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It stores </a:t>
            </a:r>
            <a:r>
              <a:rPr lang="en-US" sz="2800" b="1" dirty="0"/>
              <a:t>customer, product, order, payment, and delivery</a:t>
            </a:r>
            <a:r>
              <a:rPr lang="en-US" sz="2800" dirty="0"/>
              <a:t> information.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DBMS helps organize and manage the data.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Primary and foreign keys help connect the tables.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system makes data searching and updating easier.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Overall, it provides a </a:t>
            </a:r>
            <a:r>
              <a:rPr lang="en-US" sz="2800" b="1" dirty="0"/>
              <a:t>simple and efficient database system for online shopping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D9E66-DEA4-FE72-F9EF-4347218C2BF0}"/>
              </a:ext>
            </a:extLst>
          </p:cNvPr>
          <p:cNvSpPr txBox="1"/>
          <p:nvPr/>
        </p:nvSpPr>
        <p:spPr>
          <a:xfrm>
            <a:off x="550335" y="533400"/>
            <a:ext cx="3307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4047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476D20-AA4E-E882-9C45-0DAE81CC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112" y="2496312"/>
            <a:ext cx="5096474" cy="18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1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762</Words>
  <Application>Microsoft Office PowerPoint</Application>
  <PresentationFormat>Widescreen</PresentationFormat>
  <Paragraphs>221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Office Theme</vt:lpstr>
      <vt:lpstr>Project Review-1 Batch no-1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Kishorekumar Paleti</dc:creator>
  <cp:lastModifiedBy>madhulikakomala@outlook.com</cp:lastModifiedBy>
  <cp:revision>11</cp:revision>
  <dcterms:created xsi:type="dcterms:W3CDTF">2026-08-06T08:12:37Z</dcterms:created>
  <dcterms:modified xsi:type="dcterms:W3CDTF">2026-09-27T16:10:41Z</dcterms:modified>
</cp:coreProperties>
</file>